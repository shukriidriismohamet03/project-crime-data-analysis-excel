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5" d="100"/>
          <a:sy n="55" d="100"/>
        </p:scale>
        <p:origin x="1072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"/>
              </a:defRPr>
            </a:pPr>
            <a:r>
              <a:t>MOGADISHU CRIME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176272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D8E4F2"/>
                </a:solidFill>
                <a:latin typeface="Aptos"/>
              </a:defRPr>
            </a:pPr>
            <a:r>
              <a:t>Findings, Insights &amp; Strategic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Evidence-based review of 300 reported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663440"/>
            <a:ext cx="2240280" cy="960120"/>
          </a:xfrm>
          <a:prstGeom prst="roundRect">
            <a:avLst/>
          </a:prstGeom>
          <a:solidFill>
            <a:srgbClr val="21385B"/>
          </a:solidFill>
          <a:ln>
            <a:solidFill>
              <a:srgbClr val="4B6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48006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300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516636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D3E5"/>
                </a:solidFill>
                <a:latin typeface="Aptos"/>
              </a:defRPr>
            </a:pPr>
            <a:r>
              <a:t>Raw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4663440"/>
            <a:ext cx="2240280" cy="960120"/>
          </a:xfrm>
          <a:prstGeom prst="roundRect">
            <a:avLst/>
          </a:prstGeom>
          <a:solidFill>
            <a:srgbClr val="21385B"/>
          </a:solidFill>
          <a:ln>
            <a:solidFill>
              <a:srgbClr val="4B6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93592" y="48006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292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516636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D3E5"/>
                </a:solidFill>
                <a:latin typeface="Aptos"/>
              </a:defRPr>
            </a:pPr>
            <a:r>
              <a:t>Valid dated incidents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4663440"/>
            <a:ext cx="2240280" cy="960120"/>
          </a:xfrm>
          <a:prstGeom prst="roundRect">
            <a:avLst/>
          </a:prstGeom>
          <a:solidFill>
            <a:srgbClr val="21385B"/>
          </a:solidFill>
          <a:ln>
            <a:solidFill>
              <a:srgbClr val="4B6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99632" y="48006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42%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516636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D3E5"/>
                </a:solidFill>
                <a:latin typeface="Aptos"/>
              </a:defRPr>
            </a:pPr>
            <a:r>
              <a:t>Closed cases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1080" y="4663440"/>
            <a:ext cx="2240280" cy="960120"/>
          </a:xfrm>
          <a:prstGeom prst="roundRect">
            <a:avLst/>
          </a:prstGeom>
          <a:solidFill>
            <a:srgbClr val="21385B"/>
          </a:solidFill>
          <a:ln>
            <a:solidFill>
              <a:srgbClr val="4B6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05672" y="48006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37%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05672" y="516636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D3E5"/>
                </a:solidFill>
                <a:latin typeface="Aptos"/>
              </a:defRPr>
            </a:pPr>
            <a:r>
              <a:t>High severity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0807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8C6D8"/>
                </a:solidFill>
                <a:latin typeface="Aptos"/>
              </a:defRPr>
            </a:pPr>
            <a:r>
              <a:t>Prepared from the provided Excel workbook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506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D2DAE4"/>
                </a:solidFill>
              </a:defRPr>
            </a:pPr>
            <a:r>
              <a:t>Source: Uploaded crime dataset • Analysis prepared from the workbook provided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2DAE4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746"/>
                </a:solidFill>
                <a:latin typeface="Aptos Display"/>
              </a:defRPr>
            </a:pPr>
            <a:r>
              <a:t>Data Quality &amp;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7707A"/>
                </a:solidFill>
                <a:latin typeface="Aptos"/>
              </a:defRPr>
            </a:pPr>
            <a:r>
              <a:t>Cleaning improved consistency, but one record remains incomplete for date/ID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24688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1371600"/>
          </a:xfrm>
          <a:prstGeom prst="rect">
            <a:avLst/>
          </a:prstGeom>
          <a:solidFill>
            <a:srgbClr val="2D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7707A"/>
                </a:solidFill>
                <a:latin typeface="Aptos"/>
              </a:defRPr>
            </a:pPr>
            <a:r>
              <a:t>RAW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56231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42746"/>
                </a:solidFill>
                <a:latin typeface="Aptos"/>
              </a:defRPr>
            </a:pPr>
            <a:r>
              <a:t>300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86584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7707A"/>
                </a:solidFill>
                <a:latin typeface="Aptos"/>
              </a:defRPr>
            </a:pPr>
            <a:r>
              <a:t>Rows supplied in the workbook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325880"/>
            <a:ext cx="24688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91840" y="1325880"/>
            <a:ext cx="73152" cy="137160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0440" y="150876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7707A"/>
                </a:solidFill>
                <a:latin typeface="Aptos"/>
              </a:defRPr>
            </a:pPr>
            <a:r>
              <a:t>CLEANED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856231"/>
            <a:ext cx="2057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2746"/>
                </a:solidFill>
                <a:latin typeface="Aptos Display"/>
              </a:defRPr>
            </a:pPr>
            <a:r>
              <a:rPr lang="en-US" dirty="0"/>
              <a:t>8  duplicates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86584"/>
            <a:ext cx="2057400" cy="237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7707A"/>
                </a:solidFill>
                <a:latin typeface="Aptos"/>
              </a:defRPr>
            </a:pPr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943600" y="1325880"/>
            <a:ext cx="24688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00" y="1325880"/>
            <a:ext cx="73152" cy="1371600"/>
          </a:xfrm>
          <a:prstGeom prst="rect">
            <a:avLst/>
          </a:prstGeom>
          <a:solidFill>
            <a:srgbClr val="3E8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72200" y="150876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7707A"/>
                </a:solidFill>
                <a:latin typeface="Aptos"/>
              </a:defRPr>
            </a:pPr>
            <a:r>
              <a:t>VALID DATED RECORDS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856231"/>
            <a:ext cx="2057400" cy="475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42746"/>
                </a:solidFill>
                <a:latin typeface="Aptos"/>
              </a:defRPr>
            </a:pPr>
            <a:r>
              <a:rPr dirty="0"/>
              <a:t>29</a:t>
            </a:r>
            <a:r>
              <a:rPr lang="en-US" dirty="0"/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386584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7707A"/>
                </a:solidFill>
                <a:latin typeface="Aptos"/>
              </a:defRPr>
            </a:pPr>
            <a:r>
              <a:t>Used for time-trend analysis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1325880"/>
            <a:ext cx="24688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595360" y="1325880"/>
            <a:ext cx="73152" cy="1371600"/>
          </a:xfrm>
          <a:prstGeom prst="rect">
            <a:avLst/>
          </a:prstGeom>
          <a:solidFill>
            <a:srgbClr val="B8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23960" y="150876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7707A"/>
                </a:solidFill>
                <a:latin typeface="Aptos"/>
              </a:defRPr>
            </a:pPr>
            <a:r>
              <a:t>RAW MISSING CELLS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1856231"/>
            <a:ext cx="2057400" cy="475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42746"/>
                </a:solidFill>
                <a:latin typeface="Aptos"/>
              </a:defRPr>
            </a:pPr>
            <a:r>
              <a:t>1</a:t>
            </a:r>
            <a:r>
              <a:rPr lang="en-US"/>
              <a:t>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2386584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7707A"/>
                </a:solidFill>
                <a:latin typeface="Aptos"/>
              </a:defRPr>
            </a:pPr>
            <a:r>
              <a:t>Across the seven source fields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063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2746"/>
                </a:solidFill>
                <a:latin typeface="Aptos"/>
              </a:defRPr>
            </a:pPr>
            <a:r>
              <a:t>Cleaning 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52044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32A32"/>
                </a:solidFill>
                <a:latin typeface="Aptos"/>
              </a:defRPr>
            </a:pPr>
            <a:r>
              <a:t>• Standardized category labels such as MALE / male and closed / Closed.</a:t>
            </a:r>
          </a:p>
          <a:p>
            <a:pPr>
              <a:spcAft>
                <a:spcPts val="900"/>
              </a:spcAft>
              <a:defRPr sz="1300">
                <a:solidFill>
                  <a:srgbClr val="232A32"/>
                </a:solidFill>
                <a:latin typeface="Aptos"/>
              </a:defRPr>
            </a:pPr>
            <a:r>
              <a:t>• Removed inconsistent capitalization before aggregation.</a:t>
            </a:r>
          </a:p>
          <a:p>
            <a:pPr>
              <a:spcAft>
                <a:spcPts val="900"/>
              </a:spcAft>
              <a:defRPr sz="1300">
                <a:solidFill>
                  <a:srgbClr val="232A32"/>
                </a:solidFill>
                <a:latin typeface="Aptos"/>
              </a:defRPr>
            </a:pPr>
            <a:r>
              <a:t>• Derived year and month fields for trend analysis.</a:t>
            </a:r>
          </a:p>
          <a:p>
            <a:pPr>
              <a:spcAft>
                <a:spcPts val="900"/>
              </a:spcAft>
              <a:defRPr sz="1300">
                <a:solidFill>
                  <a:srgbClr val="232A32"/>
                </a:solidFill>
                <a:latin typeface="Aptos"/>
              </a:defRPr>
            </a:pPr>
            <a:r>
              <a:t>• Flagged records requiring review rather than silently treating missing values as valid.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063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2746"/>
                </a:solidFill>
                <a:latin typeface="Aptos"/>
              </a:defRPr>
            </a:pPr>
            <a:r>
              <a:t>Important limitation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520440"/>
            <a:ext cx="4983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32A32"/>
                </a:solidFill>
                <a:latin typeface="Aptos"/>
              </a:defRPr>
            </a:pPr>
            <a:r>
              <a:t>• One cleaned row has no Crime_ID and no Crime_Date, so it is excluded from date-based analysis.</a:t>
            </a:r>
          </a:p>
          <a:p>
            <a:pPr>
              <a:spcAft>
                <a:spcPts val="900"/>
              </a:spcAft>
              <a:defRPr sz="1300">
                <a:solidFill>
                  <a:srgbClr val="232A32"/>
                </a:solidFill>
                <a:latin typeface="Aptos"/>
              </a:defRPr>
            </a:pPr>
            <a:r>
              <a:t>• The workbook mixes 2025 and 2026 records; 2026 appears to be a partial year.</a:t>
            </a:r>
          </a:p>
          <a:p>
            <a:pPr>
              <a:spcAft>
                <a:spcPts val="900"/>
              </a:spcAft>
              <a:defRPr sz="1300">
                <a:solidFill>
                  <a:srgbClr val="232A32"/>
                </a:solidFill>
                <a:latin typeface="Aptos"/>
              </a:defRPr>
            </a:pPr>
            <a:r>
              <a:t>• These figures describe recorded incidents in the dataset—not necessarily total crime occurring in the city.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79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707A"/>
                </a:solidFill>
              </a:defRPr>
            </a:pPr>
            <a:r>
              <a:t>Source: Uploaded crime dataset • Analysis prepared from the workbook provided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07A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746"/>
                </a:solidFill>
                <a:latin typeface="Aptos Display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7707A"/>
                </a:solidFill>
                <a:latin typeface="Aptos"/>
              </a:defRPr>
            </a:pPr>
            <a:r>
              <a:t>The dataset points to concentrated demand, property crime pressure, and a substantial case backlog.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73152" cy="1508760"/>
          </a:xfrm>
          <a:prstGeom prst="rect">
            <a:avLst/>
          </a:prstGeom>
          <a:solidFill>
            <a:srgbClr val="B8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7707A"/>
                </a:solidFill>
                <a:latin typeface="Aptos"/>
              </a:defRPr>
            </a:pPr>
            <a:r>
              <a:t>HIGHEST DISTRICT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56231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42746"/>
                </a:solidFill>
                <a:latin typeface="Aptos"/>
              </a:defRPr>
            </a:pPr>
            <a:r>
              <a:t>Hodan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86584"/>
            <a:ext cx="210312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7707A"/>
                </a:solidFill>
                <a:latin typeface="Aptos"/>
              </a:defRPr>
            </a:pPr>
            <a:r>
              <a:t>85 records • 29.0% of cleaned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32588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46120" y="1325880"/>
            <a:ext cx="73152" cy="1508760"/>
          </a:xfrm>
          <a:prstGeom prst="rect">
            <a:avLst/>
          </a:prstGeom>
          <a:solidFill>
            <a:srgbClr val="DD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0" y="1508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7707A"/>
                </a:solidFill>
                <a:latin typeface="Aptos"/>
              </a:defRPr>
            </a:pPr>
            <a:r>
              <a:t>MOST FREQUENT CRIME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856231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42746"/>
                </a:solidFill>
                <a:latin typeface="Aptos"/>
              </a:defRPr>
            </a:pPr>
            <a:r>
              <a:t>Theft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386584"/>
            <a:ext cx="210312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7707A"/>
                </a:solidFill>
                <a:latin typeface="Aptos"/>
              </a:defRPr>
            </a:pPr>
            <a:r>
              <a:t>85 records • 29.0% of cleaned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132588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97880" y="1325880"/>
            <a:ext cx="73152" cy="1508760"/>
          </a:xfrm>
          <a:prstGeom prst="rect">
            <a:avLst/>
          </a:prstGeom>
          <a:solidFill>
            <a:srgbClr val="B8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0" y="1508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7707A"/>
                </a:solidFill>
                <a:latin typeface="Aptos"/>
              </a:defRPr>
            </a:pPr>
            <a:r>
              <a:t>HIGH SEVERITY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856231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42746"/>
                </a:solidFill>
                <a:latin typeface="Aptos"/>
              </a:defRPr>
            </a:pPr>
            <a:r>
              <a:t>37%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386584"/>
            <a:ext cx="210312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7707A"/>
                </a:solidFill>
                <a:latin typeface="Aptos"/>
              </a:defRPr>
            </a:pPr>
            <a:r>
              <a:t>107 records classified as High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1325880"/>
            <a:ext cx="27432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549640" y="1325880"/>
            <a:ext cx="73152" cy="1508760"/>
          </a:xfrm>
          <a:prstGeom prst="rect">
            <a:avLst/>
          </a:prstGeom>
          <a:solidFill>
            <a:srgbClr val="3E8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78240" y="15087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7707A"/>
                </a:solidFill>
                <a:latin typeface="Aptos"/>
              </a:defRPr>
            </a:pPr>
            <a:r>
              <a:t>CASE CLOSURE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1856231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42746"/>
                </a:solidFill>
                <a:latin typeface="Aptos"/>
              </a:defRPr>
            </a:pPr>
            <a:r>
              <a:t>42%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386584"/>
            <a:ext cx="233172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7707A"/>
                </a:solidFill>
                <a:latin typeface="Aptos"/>
              </a:defRPr>
            </a:pPr>
            <a:r>
              <a:t>123 closed • 170 not closed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2461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2746"/>
                </a:solidFill>
                <a:latin typeface="Aptos"/>
              </a:defRPr>
            </a:pPr>
            <a:r>
              <a:t>What the data says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703320"/>
            <a:ext cx="51663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32A32"/>
                </a:solidFill>
                <a:latin typeface="Aptos"/>
              </a:defRPr>
            </a:pPr>
            <a:r>
              <a:t>• Crime is geographically concentrated: Hodan and Wadajir account for nearly half of cleaned records.</a:t>
            </a:r>
          </a:p>
          <a:p>
            <a:pPr>
              <a:spcAft>
                <a:spcPts val="900"/>
              </a:spcAft>
              <a:defRPr sz="1300">
                <a:solidFill>
                  <a:srgbClr val="232A32"/>
                </a:solidFill>
                <a:latin typeface="Aptos"/>
              </a:defRPr>
            </a:pPr>
            <a:r>
              <a:t>• Theft is the leading offense, indicating a clear opportunity for property-crime prevention.</a:t>
            </a:r>
          </a:p>
          <a:p>
            <a:pPr>
              <a:spcAft>
                <a:spcPts val="900"/>
              </a:spcAft>
              <a:defRPr sz="1300">
                <a:solidFill>
                  <a:srgbClr val="232A32"/>
                </a:solidFill>
                <a:latin typeface="Aptos"/>
              </a:defRPr>
            </a:pPr>
            <a:r>
              <a:t>• High-severity incidents are a significant operational burden, especially in Hodan.</a:t>
            </a:r>
          </a:p>
          <a:p>
            <a:pPr>
              <a:spcAft>
                <a:spcPts val="900"/>
              </a:spcAft>
              <a:defRPr sz="1300">
                <a:solidFill>
                  <a:srgbClr val="232A32"/>
                </a:solidFill>
                <a:latin typeface="Aptos"/>
              </a:defRPr>
            </a:pPr>
            <a:r>
              <a:t>• Most cases are not yet closed, creating a strong need for investigative prioritization.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2461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2746"/>
                </a:solidFill>
                <a:latin typeface="Aptos"/>
              </a:defRPr>
            </a:pPr>
            <a:r>
              <a:t>Management implication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703320"/>
            <a:ext cx="49834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32A32"/>
                </a:solidFill>
                <a:latin typeface="Aptos"/>
              </a:defRPr>
            </a:pPr>
            <a:r>
              <a:t>• Use hotspot-based patrol allocation rather than distributing resources evenly.</a:t>
            </a:r>
          </a:p>
          <a:p>
            <a:pPr>
              <a:spcAft>
                <a:spcPts val="900"/>
              </a:spcAft>
              <a:defRPr sz="1300">
                <a:solidFill>
                  <a:srgbClr val="232A32"/>
                </a:solidFill>
                <a:latin typeface="Aptos"/>
              </a:defRPr>
            </a:pPr>
            <a:r>
              <a:t>• Create a focused case-clearance workflow for Open and Under Investigation cases.</a:t>
            </a:r>
          </a:p>
          <a:p>
            <a:pPr>
              <a:spcAft>
                <a:spcPts val="900"/>
              </a:spcAft>
              <a:defRPr sz="1300">
                <a:solidFill>
                  <a:srgbClr val="232A32"/>
                </a:solidFill>
                <a:latin typeface="Aptos"/>
              </a:defRPr>
            </a:pPr>
            <a:r>
              <a:t>• Pair theft prevention with business/community security measures.</a:t>
            </a:r>
          </a:p>
          <a:p>
            <a:pPr>
              <a:spcAft>
                <a:spcPts val="900"/>
              </a:spcAft>
              <a:defRPr sz="1300">
                <a:solidFill>
                  <a:srgbClr val="232A32"/>
                </a:solidFill>
                <a:latin typeface="Aptos"/>
              </a:defRPr>
            </a:pPr>
            <a:r>
              <a:t>• Track monthly performance using a consistent dashboard and data-quality controls.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79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707A"/>
                </a:solidFill>
              </a:defRPr>
            </a:pPr>
            <a:r>
              <a:t>Source: Uploaded crime dataset • Analysis prepared from the workbook provided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07A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746"/>
                </a:solidFill>
                <a:latin typeface="Aptos Display"/>
              </a:defRPr>
            </a:pPr>
            <a:r>
              <a:t>Crime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7707A"/>
                </a:solidFill>
                <a:latin typeface="Aptos"/>
              </a:defRPr>
            </a:pPr>
            <a:r>
              <a:t>Theft is the leading offense, followed by Assault and Fraud.</a:t>
            </a:r>
          </a:p>
        </p:txBody>
      </p:sp>
      <p:pic>
        <p:nvPicPr>
          <p:cNvPr id="5" name="Picture 4" descr="crime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629400" cy="37406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4630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2746"/>
                </a:solidFill>
                <a:latin typeface="Aptos"/>
              </a:defRPr>
            </a:pPr>
            <a:r>
              <a:t>Key insight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96596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32A32"/>
                </a:solidFill>
                <a:latin typeface="Aptos"/>
              </a:defRPr>
            </a:pPr>
            <a:r>
              <a:t>• Theft leads with 85 incidents (29.0%).</a:t>
            </a:r>
          </a:p>
          <a:p>
            <a:pPr>
              <a:spcAft>
                <a:spcPts val="900"/>
              </a:spcAft>
              <a:defRPr sz="1300">
                <a:solidFill>
                  <a:srgbClr val="232A32"/>
                </a:solidFill>
                <a:latin typeface="Aptos"/>
              </a:defRPr>
            </a:pPr>
            <a:r>
              <a:t>• Assault (60) and Fraud (57) are the next largest categories.</a:t>
            </a:r>
          </a:p>
          <a:p>
            <a:pPr>
              <a:spcAft>
                <a:spcPts val="900"/>
              </a:spcAft>
              <a:defRPr sz="1300">
                <a:solidFill>
                  <a:srgbClr val="232A32"/>
                </a:solidFill>
                <a:latin typeface="Aptos"/>
              </a:defRPr>
            </a:pPr>
            <a:r>
              <a:t>• The pattern supports a dual strategy: property-crime prevention plus focused response to interpersonal violence.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498348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39191"/>
                </a:solidFill>
                <a:latin typeface="Aptos"/>
              </a:defRPr>
            </a:pPr>
            <a:r>
              <a:t>Priority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544068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A32"/>
                </a:solidFill>
                <a:latin typeface="Aptos"/>
              </a:defRPr>
            </a:pPr>
            <a:r>
              <a:t>Strengthen theft prevention in high-volume areas while maintaining targeted capacity for assault and fraud investigations.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707A"/>
                </a:solidFill>
              </a:defRPr>
            </a:pPr>
            <a:r>
              <a:t>Source: Uploaded crime dataset • Analysis prepared from the workbook provided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07A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746"/>
                </a:solidFill>
                <a:latin typeface="Aptos Display"/>
              </a:defRPr>
            </a:pPr>
            <a:r>
              <a:t>Geographic Concentration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7707A"/>
                </a:solidFill>
                <a:latin typeface="Aptos"/>
              </a:defRPr>
            </a:pPr>
            <a:r>
              <a:t>Hodan and Wadajir carry the largest share of recorded incidents.</a:t>
            </a:r>
          </a:p>
        </p:txBody>
      </p:sp>
      <p:pic>
        <p:nvPicPr>
          <p:cNvPr id="5" name="Picture 4" descr="distri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629400" cy="37406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4630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2746"/>
                </a:solidFill>
                <a:latin typeface="Aptos"/>
              </a:defRPr>
            </a:pPr>
            <a:r>
              <a:t>Hotspot interpretation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96596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32A32"/>
                </a:solidFill>
                <a:latin typeface="Aptos"/>
              </a:defRPr>
            </a:pPr>
            <a:r>
              <a:t>• Hodan: 85 incidents (29.0%).</a:t>
            </a:r>
          </a:p>
          <a:p>
            <a:pPr>
              <a:spcAft>
                <a:spcPts val="900"/>
              </a:spcAft>
              <a:defRPr sz="1300">
                <a:solidFill>
                  <a:srgbClr val="232A32"/>
                </a:solidFill>
                <a:latin typeface="Aptos"/>
              </a:defRPr>
            </a:pPr>
            <a:r>
              <a:t>• Wadajir: 62 incidents (21.2%).</a:t>
            </a:r>
          </a:p>
          <a:p>
            <a:pPr>
              <a:spcAft>
                <a:spcPts val="900"/>
              </a:spcAft>
              <a:defRPr sz="1300">
                <a:solidFill>
                  <a:srgbClr val="232A32"/>
                </a:solidFill>
                <a:latin typeface="Aptos"/>
              </a:defRPr>
            </a:pPr>
            <a:r>
              <a:t>• Together: 147 incidents (50.2%) of cleaned records.</a:t>
            </a:r>
          </a:p>
          <a:p>
            <a:pPr>
              <a:spcAft>
                <a:spcPts val="900"/>
              </a:spcAft>
              <a:defRPr sz="1300">
                <a:solidFill>
                  <a:srgbClr val="232A32"/>
                </a:solidFill>
                <a:latin typeface="Aptos"/>
              </a:defRPr>
            </a:pPr>
            <a:r>
              <a:t>• Resource deployment should be weighted toward high-volume districts, while retaining baseline coverage elsewhere.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707A"/>
                </a:solidFill>
              </a:defRPr>
            </a:pPr>
            <a:r>
              <a:t>Source: Uploaded crime dataset • Analysis prepared from the workbook provided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07A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746"/>
                </a:solidFill>
                <a:latin typeface="Aptos Display"/>
              </a:defRPr>
            </a:pPr>
            <a:r>
              <a:t>Severity &amp; Operational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7707A"/>
                </a:solidFill>
                <a:latin typeface="Aptos"/>
              </a:defRPr>
            </a:pPr>
            <a:r>
              <a:t>High-severity cases require priority response and closer supervisory attention.</a:t>
            </a:r>
          </a:p>
        </p:txBody>
      </p:sp>
      <p:pic>
        <p:nvPicPr>
          <p:cNvPr id="5" name="Picture 4" descr="seve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5120640" cy="53678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2746"/>
                </a:solidFill>
                <a:latin typeface="Aptos"/>
              </a:defRPr>
            </a:pPr>
            <a:r>
              <a:t>Where high severity is concentrated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965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232A32"/>
                </a:solidFill>
                <a:latin typeface="Aptos"/>
              </a:defRPr>
            </a:pPr>
            <a:r>
              <a:t>Hodan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1965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50" b="1">
                <a:solidFill>
                  <a:srgbClr val="142746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12680" y="1965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50" b="0">
                <a:solidFill>
                  <a:srgbClr val="67707A"/>
                </a:solidFill>
                <a:latin typeface="Aptos"/>
              </a:defRPr>
            </a:pPr>
            <a:r>
              <a:t>33%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276856"/>
            <a:ext cx="1480558" cy="64008"/>
          </a:xfrm>
          <a:prstGeom prst="rect">
            <a:avLst/>
          </a:prstGeom>
          <a:solidFill>
            <a:srgbClr val="B8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2468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232A32"/>
                </a:solidFill>
                <a:latin typeface="Aptos"/>
              </a:defRPr>
            </a:pPr>
            <a:r>
              <a:t>Daynile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2468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50" b="1">
                <a:solidFill>
                  <a:srgbClr val="142746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12680" y="2468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50" b="0">
                <a:solidFill>
                  <a:srgbClr val="67707A"/>
                </a:solidFill>
                <a:latin typeface="Aptos"/>
              </a:defRPr>
            </a:pPr>
            <a:r>
              <a:t>17%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779776"/>
            <a:ext cx="761430" cy="64008"/>
          </a:xfrm>
          <a:prstGeom prst="rect">
            <a:avLst/>
          </a:prstGeom>
          <a:solidFill>
            <a:srgbClr val="B8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640" y="2971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A32"/>
                </a:solidFill>
                <a:latin typeface="Aptos"/>
              </a:defRPr>
            </a:pPr>
            <a:r>
              <a:t>Wadajir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971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50" b="1">
                <a:solidFill>
                  <a:srgbClr val="142746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2680" y="2971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50" b="0">
                <a:solidFill>
                  <a:srgbClr val="67707A"/>
                </a:solidFill>
                <a:latin typeface="Aptos"/>
              </a:defRPr>
            </a:pPr>
            <a:r>
              <a:t>17%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282696"/>
            <a:ext cx="761430" cy="64008"/>
          </a:xfrm>
          <a:prstGeom prst="rect">
            <a:avLst/>
          </a:prstGeom>
          <a:solidFill>
            <a:srgbClr val="B8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63640" y="3474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A32"/>
                </a:solidFill>
                <a:latin typeface="Aptos"/>
              </a:defRPr>
            </a:pPr>
            <a:r>
              <a:t>Karan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3474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50" b="1">
                <a:solidFill>
                  <a:srgbClr val="142746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3474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50" b="0">
                <a:solidFill>
                  <a:srgbClr val="67707A"/>
                </a:solidFill>
                <a:latin typeface="Aptos"/>
              </a:defRPr>
            </a:pPr>
            <a:r>
              <a:t>13%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785615"/>
            <a:ext cx="592223" cy="64008"/>
          </a:xfrm>
          <a:prstGeom prst="rect">
            <a:avLst/>
          </a:prstGeom>
          <a:solidFill>
            <a:srgbClr val="B8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63640" y="39776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A32"/>
                </a:solidFill>
                <a:latin typeface="Aptos"/>
              </a:defRPr>
            </a:pPr>
            <a:r>
              <a:t>Waberi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397763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50" b="1">
                <a:solidFill>
                  <a:srgbClr val="142746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12680" y="39776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50" b="0">
                <a:solidFill>
                  <a:srgbClr val="67707A"/>
                </a:solidFill>
                <a:latin typeface="Aptos"/>
              </a:defRPr>
            </a:pPr>
            <a:r>
              <a:t>11%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288536"/>
            <a:ext cx="507620" cy="64008"/>
          </a:xfrm>
          <a:prstGeom prst="rect">
            <a:avLst/>
          </a:prstGeom>
          <a:solidFill>
            <a:srgbClr val="B8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63640" y="4480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A32"/>
                </a:solidFill>
                <a:latin typeface="Aptos"/>
              </a:defRPr>
            </a:pPr>
            <a:r>
              <a:t>Yaqshid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44805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50" b="1">
                <a:solidFill>
                  <a:srgbClr val="142746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4480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50" b="0">
                <a:solidFill>
                  <a:srgbClr val="67707A"/>
                </a:solidFill>
                <a:latin typeface="Aptos"/>
              </a:defRPr>
            </a:pPr>
            <a:r>
              <a:t>9%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4791456"/>
            <a:ext cx="423016" cy="64008"/>
          </a:xfrm>
          <a:prstGeom prst="rect">
            <a:avLst/>
          </a:prstGeom>
          <a:solidFill>
            <a:srgbClr val="B8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63640" y="54406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32A32"/>
                </a:solidFill>
                <a:latin typeface="Aptos"/>
              </a:defRPr>
            </a:pPr>
            <a:r>
              <a:t>Recommendation: triage High-severity cases first, with clear escalation rules and supervisor review.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179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707A"/>
                </a:solidFill>
              </a:defRPr>
            </a:pPr>
            <a:r>
              <a:t>Source: Uploaded crime dataset • Analysis prepared from the workbook provided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07A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746"/>
                </a:solidFill>
                <a:latin typeface="Aptos Display"/>
              </a:defRPr>
            </a:pPr>
            <a:r>
              <a:t>Case Status &amp; Clearance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7707A"/>
                </a:solidFill>
                <a:latin typeface="Aptos"/>
              </a:defRPr>
            </a:pPr>
            <a:r>
              <a:t>Closure is below half of the dataset, leaving a substantial active workload.</a:t>
            </a:r>
          </a:p>
        </p:txBody>
      </p:sp>
      <p:pic>
        <p:nvPicPr>
          <p:cNvPr id="5" name="Picture 4" descr="case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217920" cy="398742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463040"/>
            <a:ext cx="4114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32320" y="1463040"/>
            <a:ext cx="73152" cy="1325880"/>
          </a:xfrm>
          <a:prstGeom prst="rect">
            <a:avLst/>
          </a:prstGeom>
          <a:solidFill>
            <a:srgbClr val="3E8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60920" y="1645920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7707A"/>
                </a:solidFill>
                <a:latin typeface="Aptos"/>
              </a:defRPr>
            </a:pPr>
            <a:r>
              <a:t>CLOSED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1993392"/>
            <a:ext cx="3703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42746"/>
                </a:solidFill>
                <a:latin typeface="Aptos"/>
              </a:defRPr>
            </a:pPr>
            <a:r>
              <a:t>42%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2523744"/>
            <a:ext cx="370332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7707A"/>
                </a:solidFill>
                <a:latin typeface="Aptos"/>
              </a:defRPr>
            </a:pPr>
            <a:r>
              <a:t>123 cases closed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2971800"/>
            <a:ext cx="4114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32320" y="2971800"/>
            <a:ext cx="73152" cy="1325880"/>
          </a:xfrm>
          <a:prstGeom prst="rect">
            <a:avLst/>
          </a:prstGeom>
          <a:solidFill>
            <a:srgbClr val="B8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60920" y="3154680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7707A"/>
                </a:solidFill>
                <a:latin typeface="Aptos"/>
              </a:defRPr>
            </a:pPr>
            <a:r>
              <a:t>ACTIVE / NOT CLOSED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3502152"/>
            <a:ext cx="3703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42746"/>
                </a:solidFill>
                <a:latin typeface="Aptos"/>
              </a:defRPr>
            </a:pPr>
            <a:r>
              <a:t>58%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4032504"/>
            <a:ext cx="370332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7707A"/>
                </a:solidFill>
                <a:latin typeface="Aptos"/>
              </a:defRPr>
            </a:pPr>
            <a:r>
              <a:t>170 cases remain Open, Under Investigation, or Referred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709160"/>
            <a:ext cx="3977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746"/>
                </a:solidFill>
                <a:latin typeface="Aptos"/>
              </a:defRPr>
            </a:pPr>
            <a:r>
              <a:t>Management focus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5120640"/>
            <a:ext cx="3886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50">
                <a:solidFill>
                  <a:srgbClr val="232A32"/>
                </a:solidFill>
                <a:latin typeface="Aptos"/>
              </a:defRPr>
            </a:pPr>
            <a:r>
              <a:t>• Build an aging list for Open and Under Investigation cases.</a:t>
            </a:r>
          </a:p>
          <a:p>
            <a:pPr>
              <a:spcAft>
                <a:spcPts val="900"/>
              </a:spcAft>
              <a:defRPr sz="1150">
                <a:solidFill>
                  <a:srgbClr val="232A32"/>
                </a:solidFill>
                <a:latin typeface="Aptos"/>
              </a:defRPr>
            </a:pPr>
            <a:r>
              <a:t>• Set weekly clearance targets by priority level.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707A"/>
                </a:solidFill>
              </a:defRPr>
            </a:pPr>
            <a:r>
              <a:t>Source: Uploaded crime dataset • Analysis prepared from the workbook provided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07A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746"/>
                </a:solidFill>
                <a:latin typeface="Aptos Display"/>
              </a:defRPr>
            </a:pPr>
            <a:r>
              <a:t>Time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7707A"/>
                </a:solidFill>
                <a:latin typeface="Aptos"/>
              </a:defRPr>
            </a:pPr>
            <a:r>
              <a:t>Monthly reporting varies substantially; July 2026 is the highest month in the valid dated records.</a:t>
            </a:r>
          </a:p>
        </p:txBody>
      </p:sp>
      <p:pic>
        <p:nvPicPr>
          <p:cNvPr id="5" name="Picture 4" descr="monthl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498079" cy="37765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554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2746"/>
                </a:solidFill>
                <a:latin typeface="Aptos"/>
              </a:defRPr>
            </a:pPr>
            <a:r>
              <a:t>Peak 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05740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B83F3F"/>
                </a:solidFill>
                <a:latin typeface="Aptos"/>
              </a:defRPr>
            </a:pPr>
            <a:r>
              <a:t>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57860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32A32"/>
                </a:solidFill>
                <a:latin typeface="Aptos"/>
              </a:defRPr>
            </a:pPr>
            <a:r>
              <a:t>37 recorded incidents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3246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D8B30"/>
                </a:solidFill>
                <a:latin typeface="Aptos"/>
              </a:defRPr>
            </a:pPr>
            <a:r>
              <a:t>Caution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703320"/>
            <a:ext cx="2743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A32"/>
                </a:solidFill>
                <a:latin typeface="Aptos"/>
              </a:defRPr>
            </a:pPr>
            <a:r>
              <a:t>Monthly variation may reflect reporting volume as well as underlying crime. Use the trend for operational monitoring, not as a standalone estimate of true incidence.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707A"/>
                </a:solidFill>
              </a:defRPr>
            </a:pPr>
            <a:r>
              <a:t>Source: Uploaded crime dataset • Analysis prepared from the workbook provided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07A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746"/>
                </a:solidFill>
                <a:latin typeface="Aptos Display"/>
              </a:defRPr>
            </a:pPr>
            <a: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7707A"/>
                </a:solidFill>
                <a:latin typeface="Aptos"/>
              </a:defRPr>
            </a:pPr>
            <a:r>
              <a:t>Five evidence-based conclusions from the cleaned and normalized dataset.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325880"/>
            <a:ext cx="530352" cy="530352"/>
          </a:xfrm>
          <a:prstGeom prst="ellipse">
            <a:avLst/>
          </a:prstGeom>
          <a:solidFill>
            <a:srgbClr val="2D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99032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99032" y="1325880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746"/>
                </a:solidFill>
                <a:latin typeface="Aptos"/>
              </a:defRPr>
            </a:pPr>
            <a:r>
              <a:t>District concentration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9032" y="1709928"/>
            <a:ext cx="4709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A32"/>
                </a:solidFill>
                <a:latin typeface="Aptos"/>
              </a:defRPr>
            </a:pPr>
            <a:r>
              <a:t>Hodan is the largest hotspot (85 records), followed by Wadajir (62).</a:t>
            </a:r>
          </a:p>
        </p:txBody>
      </p:sp>
      <p:sp>
        <p:nvSpPr>
          <p:cNvPr id="9" name="Oval 8"/>
          <p:cNvSpPr/>
          <p:nvPr/>
        </p:nvSpPr>
        <p:spPr>
          <a:xfrm>
            <a:off x="6309360" y="1325880"/>
            <a:ext cx="530352" cy="530352"/>
          </a:xfrm>
          <a:prstGeom prst="ellipse">
            <a:avLst/>
          </a:prstGeom>
          <a:solidFill>
            <a:srgbClr val="2D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1399032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2592" y="1325880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746"/>
                </a:solidFill>
                <a:latin typeface="Aptos"/>
              </a:defRPr>
            </a:pPr>
            <a:r>
              <a:t>Dominant crime category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09928"/>
            <a:ext cx="4709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A32"/>
                </a:solidFill>
                <a:latin typeface="Aptos"/>
              </a:defRPr>
            </a:pPr>
            <a:r>
              <a:t>Theft is the most common offense (85 records; 29.0% of cleaned records).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2898648"/>
            <a:ext cx="530352" cy="530352"/>
          </a:xfrm>
          <a:prstGeom prst="ellipse">
            <a:avLst/>
          </a:prstGeom>
          <a:solidFill>
            <a:srgbClr val="2D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971800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2898648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746"/>
                </a:solidFill>
                <a:latin typeface="Aptos"/>
              </a:defRPr>
            </a:pPr>
            <a:r>
              <a:t>High-severity burden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9032" y="3282696"/>
            <a:ext cx="4709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A32"/>
                </a:solidFill>
                <a:latin typeface="Aptos"/>
              </a:defRPr>
            </a:pPr>
            <a:r>
              <a:t>107 records (36.5%) are High severity, with Hodan carrying the largest high-severity count.</a:t>
            </a:r>
          </a:p>
        </p:txBody>
      </p:sp>
      <p:sp>
        <p:nvSpPr>
          <p:cNvPr id="17" name="Oval 16"/>
          <p:cNvSpPr/>
          <p:nvPr/>
        </p:nvSpPr>
        <p:spPr>
          <a:xfrm>
            <a:off x="6309360" y="2898648"/>
            <a:ext cx="530352" cy="530352"/>
          </a:xfrm>
          <a:prstGeom prst="ellipse">
            <a:avLst/>
          </a:prstGeom>
          <a:solidFill>
            <a:srgbClr val="2D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2971800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2592" y="2898648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746"/>
                </a:solidFill>
                <a:latin typeface="Aptos"/>
              </a:defRPr>
            </a:pPr>
            <a:r>
              <a:t>Clearance 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2592" y="3282696"/>
            <a:ext cx="4709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A32"/>
                </a:solidFill>
                <a:latin typeface="Aptos"/>
              </a:defRPr>
            </a:pPr>
            <a:r>
              <a:t>Only 123 of 293 cleaned records are closed (42.0%); 170 remain not closed.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4471416"/>
            <a:ext cx="530352" cy="530352"/>
          </a:xfrm>
          <a:prstGeom prst="ellipse">
            <a:avLst/>
          </a:prstGeom>
          <a:solidFill>
            <a:srgbClr val="2D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4544568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4471416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746"/>
                </a:solidFill>
                <a:latin typeface="Aptos"/>
              </a:defRPr>
            </a:pPr>
            <a:r>
              <a:t>Victim gender pattern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9032" y="4855464"/>
            <a:ext cx="4709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A32"/>
                </a:solidFill>
                <a:latin typeface="Aptos"/>
              </a:defRPr>
            </a:pPr>
            <a:r>
              <a:t>Male victims: 160 (54.6%); Female: 90 (30.7%); Unknown: 43 (14.7%).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707A"/>
                </a:solidFill>
              </a:defRPr>
            </a:pPr>
            <a:r>
              <a:t>Source: Uploaded crime dataset • Analysis prepared from the workbook provided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07A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746"/>
                </a:solidFill>
                <a:latin typeface="Aptos Display"/>
              </a:defRPr>
            </a:pPr>
            <a:r>
              <a:t>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7707A"/>
                </a:solidFill>
                <a:latin typeface="Aptos"/>
              </a:defRPr>
            </a:pPr>
            <a:r>
              <a:t>Translate the findings into targeted, measurable operational actions.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39903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3919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371600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142746"/>
                </a:solidFill>
                <a:latin typeface="Aptos"/>
              </a:defRPr>
            </a:pPr>
            <a:r>
              <a:t>Target police resources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737360"/>
            <a:ext cx="4160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2A32"/>
                </a:solidFill>
                <a:latin typeface="Aptos"/>
              </a:defRPr>
            </a:pPr>
            <a:r>
              <a:t>Prioritize patrols, checkpoints and visible deterrence in Hodan and Wadajir based on incident volume.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3444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39903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3919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79" y="1371600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142746"/>
                </a:solidFill>
                <a:latin typeface="Aptos"/>
              </a:defRPr>
            </a:pPr>
            <a:r>
              <a:t>Accelerate case clearance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79" y="1737360"/>
            <a:ext cx="4160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2A32"/>
                </a:solidFill>
                <a:latin typeface="Aptos"/>
              </a:defRPr>
            </a:pPr>
            <a:r>
              <a:t>Create a dedicated workflow for Open and Under Investigation cases, with weekly aging reviews and escalation.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807208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97180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3919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944368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142746"/>
                </a:solidFill>
                <a:latin typeface="Aptos"/>
              </a:defRPr>
            </a:pPr>
            <a:r>
              <a:t>Prevent theft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310128"/>
            <a:ext cx="4160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2A32"/>
                </a:solidFill>
                <a:latin typeface="Aptos"/>
              </a:defRPr>
            </a:pPr>
            <a:r>
              <a:t>Expand community awareness, business security partnerships, CCTV coverage and property-marking initiatives in hotspots.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807208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297180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3919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79" y="2944368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142746"/>
                </a:solidFill>
                <a:latin typeface="Aptos"/>
              </a:defRPr>
            </a:pPr>
            <a:r>
              <a:t>Prioritize high severity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79" y="3310128"/>
            <a:ext cx="4160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2A32"/>
                </a:solidFill>
                <a:latin typeface="Aptos"/>
              </a:defRPr>
            </a:pPr>
            <a:r>
              <a:t>Use a triage matrix that gives High-severity incidents faster response, investigation and supervisory review.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379976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54456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3919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517136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142746"/>
                </a:solidFill>
                <a:latin typeface="Aptos"/>
              </a:defRPr>
            </a:pPr>
            <a:r>
              <a:t>Strengthen data governance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882896"/>
            <a:ext cx="4160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2A32"/>
                </a:solidFill>
                <a:latin typeface="Aptos"/>
              </a:defRPr>
            </a:pPr>
            <a:r>
              <a:t>Make Crime_ID, date, district, status and severity mandatory; standardize categories at entry.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379976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454456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39191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79" y="4517136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142746"/>
                </a:solidFill>
                <a:latin typeface="Aptos"/>
              </a:defRPr>
            </a:pPr>
            <a:r>
              <a:t>Monitor performance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79" y="4882896"/>
            <a:ext cx="4160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2A32"/>
                </a:solidFill>
                <a:latin typeface="Aptos"/>
              </a:defRPr>
            </a:pPr>
            <a:r>
              <a:t>Maintain a monthly dashboard covering volume, hotspots, severity, clearance and case aging.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79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707A"/>
                </a:solidFill>
              </a:defRPr>
            </a:pPr>
            <a:r>
              <a:t>Source: Uploaded crime dataset • Analysis prepared from the workbook provided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07A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746"/>
                </a:solidFill>
                <a:latin typeface="Aptos Display"/>
              </a:defRPr>
            </a:pPr>
            <a:r>
              <a:t>90-Day 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7707A"/>
                </a:solidFill>
                <a:latin typeface="Aptos"/>
              </a:defRPr>
            </a:pPr>
            <a:r>
              <a:t>A practical sequence for moving from analysis to measurable 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4290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78308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39191"/>
                </a:solidFill>
                <a:latin typeface="Aptos"/>
              </a:defRPr>
            </a:pPr>
            <a:r>
              <a:t>0–30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76272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42746"/>
                </a:solidFill>
                <a:latin typeface="Aptos"/>
              </a:defRPr>
            </a:pPr>
            <a:r>
              <a:t>Stabilize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788920"/>
            <a:ext cx="2880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50">
                <a:solidFill>
                  <a:srgbClr val="232A32"/>
                </a:solidFill>
                <a:latin typeface="Aptos"/>
              </a:defRPr>
            </a:pPr>
            <a:r>
              <a:t>• Standardize data-entry fields and mandatory values.</a:t>
            </a:r>
          </a:p>
          <a:p>
            <a:pPr>
              <a:spcAft>
                <a:spcPts val="900"/>
              </a:spcAft>
              <a:defRPr sz="1150">
                <a:solidFill>
                  <a:srgbClr val="232A32"/>
                </a:solidFill>
                <a:latin typeface="Aptos"/>
              </a:defRPr>
            </a:pPr>
            <a:r>
              <a:t>• Create a case-aging list and severity triage rules.</a:t>
            </a:r>
          </a:p>
          <a:p>
            <a:pPr>
              <a:spcAft>
                <a:spcPts val="900"/>
              </a:spcAft>
              <a:defRPr sz="1150">
                <a:solidFill>
                  <a:srgbClr val="232A32"/>
                </a:solidFill>
                <a:latin typeface="Aptos"/>
              </a:defRPr>
            </a:pPr>
            <a:r>
              <a:t>• Map Hodan and Wadajir incident hotspots.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08760"/>
            <a:ext cx="34290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90872" y="178308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39191"/>
                </a:solidFill>
                <a:latin typeface="Aptos"/>
              </a:defRPr>
            </a:pPr>
            <a:r>
              <a:t>31–60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2176272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42746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788920"/>
            <a:ext cx="2880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50">
                <a:solidFill>
                  <a:srgbClr val="232A32"/>
                </a:solidFill>
                <a:latin typeface="Aptos"/>
              </a:defRPr>
            </a:pPr>
            <a:r>
              <a:t>• Reallocate patrol capacity using hotspot evidence.</a:t>
            </a:r>
          </a:p>
          <a:p>
            <a:pPr>
              <a:spcAft>
                <a:spcPts val="900"/>
              </a:spcAft>
              <a:defRPr sz="1150">
                <a:solidFill>
                  <a:srgbClr val="232A32"/>
                </a:solidFill>
                <a:latin typeface="Aptos"/>
              </a:defRPr>
            </a:pPr>
            <a:r>
              <a:t>• Launch theft-prevention engagement with businesses and communities.</a:t>
            </a:r>
          </a:p>
          <a:p>
            <a:pPr>
              <a:spcAft>
                <a:spcPts val="900"/>
              </a:spcAft>
              <a:defRPr sz="1150">
                <a:solidFill>
                  <a:srgbClr val="232A32"/>
                </a:solidFill>
                <a:latin typeface="Aptos"/>
              </a:defRPr>
            </a:pPr>
            <a:r>
              <a:t>• Begin weekly case-clearance reviews.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508760"/>
            <a:ext cx="34290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85632" y="178308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39191"/>
                </a:solidFill>
                <a:latin typeface="Aptos"/>
              </a:defRPr>
            </a:pPr>
            <a:r>
              <a:t>61–90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2176272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42746"/>
                </a:solidFill>
                <a:latin typeface="Aptos"/>
              </a:defRPr>
            </a:pPr>
            <a:r>
              <a:t>Measure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2788920"/>
            <a:ext cx="2880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50">
                <a:solidFill>
                  <a:srgbClr val="232A32"/>
                </a:solidFill>
                <a:latin typeface="Aptos"/>
              </a:defRPr>
            </a:pPr>
            <a:r>
              <a:t>• Compare closure and response metrics against baseline.</a:t>
            </a:r>
          </a:p>
          <a:p>
            <a:pPr>
              <a:spcAft>
                <a:spcPts val="900"/>
              </a:spcAft>
              <a:defRPr sz="1150">
                <a:solidFill>
                  <a:srgbClr val="232A32"/>
                </a:solidFill>
                <a:latin typeface="Aptos"/>
              </a:defRPr>
            </a:pPr>
            <a:r>
              <a:t>• Review high-severity concentration and repeat hotspots.</a:t>
            </a:r>
          </a:p>
          <a:p>
            <a:pPr>
              <a:spcAft>
                <a:spcPts val="900"/>
              </a:spcAft>
              <a:defRPr sz="1150">
                <a:solidFill>
                  <a:srgbClr val="232A32"/>
                </a:solidFill>
                <a:latin typeface="Aptos"/>
              </a:defRPr>
            </a:pPr>
            <a:r>
              <a:t>• Publish a monthly management dashboard.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897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2746"/>
                </a:solidFill>
                <a:latin typeface="Aptos"/>
              </a:defRPr>
            </a:pPr>
            <a:r>
              <a:t>Success should be measured through fewer high-risk hotspots, faster case closure, stronger data completeness, and better prevention coverage.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707A"/>
                </a:solidFill>
              </a:defRPr>
            </a:pPr>
            <a:r>
              <a:t>Source: Uploaded crime dataset • Analysis prepared from the workbook provided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07A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1188</Words>
  <Application>Microsoft Office PowerPoint</Application>
  <PresentationFormat>Widescreen</PresentationFormat>
  <Paragraphs>190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ShuuSHuu</dc:creator>
  <dc:description>generated using python-pptx</dc:description>
  <cp:lastModifiedBy>Shuukri idriis</cp:lastModifiedBy>
  <cp:revision>3</cp:revision>
  <dcterms:created xsi:type="dcterms:W3CDTF">2013-01-27T09:14:00Z</dcterms:created>
  <dcterms:modified xsi:type="dcterms:W3CDTF">2026-08-25T19:28:07Z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E5EC86B16427406DAB64E41451EE01D1_12</vt:lpwstr>
  </property>
  <property fmtid="{D5CDD505-2E9C-101B-9397-08002B2CF9AE}" pid="3" name="KSOProductBuildVer">
    <vt:lpwstr>1033-12.1.0.28485</vt:lpwstr>
  </property>
</Properties>
</file>